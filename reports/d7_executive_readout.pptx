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Executive Summary | FORESIGHT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Inventory decisions from demand, forecast, and risk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667512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1">
                <a:solidFill>
                  <a:srgbClr val="112336"/>
                </a:solidFill>
                <a:latin typeface="Aptos"/>
              </a:rPr>
              <a:t>A practical view of where inventory capital is exposed and what to review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298448"/>
            <a:ext cx="3611880" cy="2057400"/>
          </a:xfrm>
          <a:prstGeom prst="roundRect">
            <a:avLst/>
          </a:prstGeom>
          <a:solidFill>
            <a:srgbClr val="11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1572768"/>
            <a:ext cx="31089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B2DCDA"/>
                </a:solidFill>
                <a:latin typeface="Aptos"/>
              </a:rPr>
              <a:t>VALUE AT STAKE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1874519"/>
            <a:ext cx="320040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₹1,555,838,458.90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697480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DCE7EB"/>
                </a:solidFill>
                <a:latin typeface="Aptos"/>
              </a:rPr>
              <a:t>Cost-basis exposure from D4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743200"/>
            <a:ext cx="2" cy="1097280"/>
          </a:xfrm>
          <a:prstGeom prst="roundRect">
            <a:avLst/>
          </a:prstGeom>
          <a:solidFill>
            <a:srgbClr val="FF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5292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REORDER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2724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E07432"/>
                </a:solidFill>
                <a:latin typeface="Aptos"/>
              </a:rPr>
              <a:t>118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743200"/>
            <a:ext cx="2" cy="1097280"/>
          </a:xfrm>
          <a:prstGeom prst="roundRect">
            <a:avLst/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85292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MARKDOWN / CLEAR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12724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E07432"/>
                </a:solidFill>
                <a:latin typeface="Aptos"/>
              </a:rPr>
              <a:t>1516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743200"/>
            <a:ext cx="2" cy="1097280"/>
          </a:xfrm>
          <a:prstGeom prst="roundRect">
            <a:avLst/>
          </a:prstGeom>
          <a:solidFill>
            <a:srgbClr val="EF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85292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HEALTHY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12724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10777C"/>
                </a:solidFill>
                <a:latin typeface="Aptos"/>
              </a:rPr>
              <a:t>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10789920" cy="13258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Protect availability: 118 SKUs flagged reorder-now.</a:t>
            </a:r>
          </a:p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Reduce excess: 1516 SKUs at markdown/clear.</a:t>
            </a:r>
          </a:p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Figures are computed from official D1-D4 outputs; recommendations and thresholds are assumptions for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What Is At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D4 separates availability pressure from excess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" cy="1097280"/>
          </a:xfrm>
          <a:prstGeom prst="roundRect">
            <a:avLst/>
          </a:prstGeom>
          <a:solidFill>
            <a:srgbClr val="FF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3560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TOTAL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0992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E07432"/>
                </a:solidFill>
                <a:latin typeface="Aptos"/>
              </a:rPr>
              <a:t>₹1,555,838,458.90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325880"/>
            <a:ext cx="3" cy="1097280"/>
          </a:xfrm>
          <a:prstGeom prst="roundRect">
            <a:avLst/>
          </a:prstGeom>
          <a:solidFill>
            <a:srgbClr val="EF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43560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INVENTORY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170992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112336"/>
                </a:solidFill>
                <a:latin typeface="Aptos"/>
              </a:rPr>
              <a:t>₹1,555,597,499.87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25880"/>
            <a:ext cx="3" cy="1097280"/>
          </a:xfrm>
          <a:prstGeom prst="roundRect">
            <a:avLst/>
          </a:prstGeom>
          <a:solidFill>
            <a:srgbClr val="EF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43560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STOCKOUT SHORTFALL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70992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112336"/>
                </a:solidFill>
                <a:latin typeface="Aptos"/>
              </a:rPr>
              <a:t>₹240,959.03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8892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12336"/>
                </a:solidFill>
                <a:latin typeface="Aptos"/>
              </a:rPr>
              <a:t>Decision mix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46120"/>
            <a:ext cx="146304" cy="310896"/>
          </a:xfrm>
          <a:prstGeom prst="rect">
            <a:avLst/>
          </a:prstGeom>
          <a:solidFill>
            <a:srgbClr val="E0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27832"/>
            <a:ext cx="26517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E2C3A"/>
                </a:solidFill>
                <a:latin typeface="Aptos"/>
              </a:rPr>
              <a:t>Reorder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227832"/>
            <a:ext cx="73152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12336"/>
                </a:solidFill>
                <a:latin typeface="Aptos"/>
              </a:rPr>
              <a:t>118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40480"/>
            <a:ext cx="146304" cy="310896"/>
          </a:xfrm>
          <a:prstGeom prst="rect">
            <a:avLst/>
          </a:prstGeom>
          <a:solidFill>
            <a:srgbClr val="D59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26517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E2C3A"/>
                </a:solidFill>
                <a:latin typeface="Aptos"/>
              </a:rPr>
              <a:t>Markdown 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822192"/>
            <a:ext cx="73152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12336"/>
                </a:solidFill>
                <a:latin typeface="Aptos"/>
              </a:rPr>
              <a:t>1516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34840"/>
            <a:ext cx="146304" cy="310896"/>
          </a:xfrm>
          <a:prstGeom prst="rect">
            <a:avLst/>
          </a:prstGeom>
          <a:solidFill>
            <a:srgbClr val="B49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16552"/>
            <a:ext cx="26517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E2C3A"/>
                </a:solidFill>
                <a:latin typeface="Aptos"/>
              </a:rPr>
              <a:t>Watch Volatile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416552"/>
            <a:ext cx="73152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12336"/>
                </a:solidFill>
                <a:latin typeface="Aptos"/>
              </a:rPr>
              <a:t>2792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029200"/>
            <a:ext cx="146304" cy="310896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010912"/>
            <a:ext cx="26517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E2C3A"/>
                </a:solidFill>
                <a:latin typeface="Aptos"/>
              </a:rPr>
              <a:t>Healthy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010912"/>
            <a:ext cx="73152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112336"/>
                </a:solidFill>
                <a:latin typeface="Aptos"/>
              </a:rPr>
              <a:t>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063240"/>
            <a:ext cx="6583680" cy="2194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C3A"/>
                </a:solidFill>
                <a:latin typeface="Aptos"/>
              </a:defRPr>
            </a:pPr>
            <a:r>
              <a:t>143 SKUs show a computed lead-time shortfall.</a:t>
            </a:r>
          </a:p>
          <a:p>
            <a:pPr>
              <a:spcAft>
                <a:spcPts val="900"/>
              </a:spcAft>
              <a:defRPr sz="1700">
                <a:solidFill>
                  <a:srgbClr val="1E2C3A"/>
                </a:solidFill>
                <a:latin typeface="Aptos"/>
              </a:defRPr>
            </a:pPr>
            <a:r>
              <a:t>3961 SKUs exceed the healthy-cover inventory target.</a:t>
            </a:r>
          </a:p>
          <a:p>
            <a:pPr>
              <a:spcAft>
                <a:spcPts val="900"/>
              </a:spcAft>
              <a:defRPr sz="1700">
                <a:solidFill>
                  <a:srgbClr val="1E2C3A"/>
                </a:solidFill>
                <a:latin typeface="Aptos"/>
              </a:defRPr>
            </a:pPr>
            <a:r>
              <a:t>Rupee values use official unit_cost on a cost basis; lost revenue is not estimated.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Prioritised directly from D4 output, highest value at stake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3657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12336"/>
                </a:solidFill>
                <a:latin typeface="Aptos"/>
              </a:rPr>
              <a:t>Immediate review queue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91640"/>
          <a:ext cx="10835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467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SKU</a:t>
                      </a:r>
                    </a:p>
                  </a:txBody>
                  <a:tcPr>
                    <a:solidFill>
                      <a:srgbClr val="11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1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VALUE AT STAKE</a:t>
                      </a:r>
                    </a:p>
                  </a:txBody>
                  <a:tcPr>
                    <a:solidFill>
                      <a:srgbClr val="11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1233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SKU03043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₹24,189,235.60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4275.0 weeks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SKU03150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₹21,779,145.42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3974.5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SKU04062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₹21,531,336.60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7894.0 weeks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SKU03491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₹18,007,395.54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6223.3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SKU01423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₹17,724,477.88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2175.5 weeks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SKU04409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₹15,340,654.68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3886.0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SKU01428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₹15,288,321.22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7485.0 weeks</a:t>
                      </a:r>
                    </a:p>
                  </a:txBody>
                  <a:tcPr>
                    <a:solidFill>
                      <a:srgbClr val="EFF6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SKU01542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Watch Volatile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₹14,797,210.56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C3A"/>
                          </a:solidFill>
                        </a:defRPr>
                      </a:pPr>
                      <a:r>
                        <a:t>9288.0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Demand &amp; Inventory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D2 observations connect demand concentration and seasonality to inventory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03520" cy="4526280"/>
          </a:xfrm>
          <a:prstGeom prst="roundRect">
            <a:avLst/>
          </a:prstGeom>
          <a:solidFill>
            <a:srgbClr val="EF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3891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12336"/>
                </a:solidFill>
                <a:latin typeface="Aptos"/>
              </a:rPr>
              <a:t>Computed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6634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E2C3A"/>
                </a:solidFill>
                <a:latin typeface="Aptos"/>
              </a:rPr>
              <a:t>1. SKU04321 is the highest-volume SKU.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4526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C77"/>
                </a:solidFill>
                <a:latin typeface="Aptos"/>
              </a:rPr>
              <a:t>It represents 6.5% of 46,940 total units sold.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46634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E2C3A"/>
                </a:solidFill>
                <a:latin typeface="Aptos"/>
              </a:rPr>
              <a:t>2. Month 12 has the highest observed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08960"/>
            <a:ext cx="4526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C77"/>
                </a:solidFill>
                <a:latin typeface="Aptos"/>
              </a:rPr>
              <a:t>The period total is 5,343 units in the computed month aggregation.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21024"/>
            <a:ext cx="46634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E2C3A"/>
                </a:solidFill>
                <a:latin typeface="Aptos"/>
              </a:rPr>
              <a:t>3. 1240 SKU(s) meet the computed dead/slow-stock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913632"/>
            <a:ext cx="4526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C77"/>
                </a:solidFill>
                <a:latin typeface="Aptos"/>
              </a:rPr>
              <a:t>The rule flags zero sales or bottom-quartile movement with no observed stock depletion.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25696"/>
            <a:ext cx="466344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E2C3A"/>
                </a:solidFill>
                <a:latin typeface="Aptos"/>
              </a:rPr>
              <a:t>4. Aggregate daily demand is increasing over the observed window.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718304"/>
            <a:ext cx="45262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C77"/>
                </a:solidFill>
                <a:latin typeface="Aptos"/>
              </a:rPr>
              <a:t>The fitted daily slope is 0.007 units per day.</a:t>
            </a:r>
          </a:p>
        </p:txBody>
      </p:sp>
      <p:pic>
        <p:nvPicPr>
          <p:cNvPr id="16" name="Picture 15" descr="week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2468880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5532120"/>
            <a:ext cx="48463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000" b="0">
                <a:solidFill>
                  <a:srgbClr val="5C6C77"/>
                </a:solidFill>
                <a:latin typeface="Aptos"/>
              </a:rPr>
              <a:t>Charts are descriptive D2 summaries of the official demand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Forecast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D3 uses chronological rolling-origin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2" cy="1097280"/>
          </a:xfrm>
          <a:prstGeom prst="roundRect">
            <a:avLst/>
          </a:prstGeom>
          <a:solidFill>
            <a:srgbClr val="EF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2704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MODEL WAPE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80136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10777C"/>
                </a:solidFill>
                <a:latin typeface="Aptos"/>
              </a:rPr>
              <a:t>50.73%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17320"/>
            <a:ext cx="2" cy="1097280"/>
          </a:xfrm>
          <a:prstGeom prst="round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BASELINE WAPE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0136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112336"/>
                </a:solidFill>
                <a:latin typeface="Aptos"/>
              </a:rPr>
              <a:t>63.89%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417320"/>
            <a:ext cx="2" cy="1097280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WAPE 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0136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10777C"/>
                </a:solidFill>
                <a:latin typeface="Aptos"/>
              </a:rPr>
              <a:t>20.60%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17320"/>
            <a:ext cx="2" cy="1097280"/>
          </a:xfrm>
          <a:prstGeom prst="roundRect">
            <a:avLst/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527048"/>
            <a:ext cx="-219453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900" b="1">
                <a:solidFill>
                  <a:srgbClr val="5C6C77"/>
                </a:solidFill>
                <a:latin typeface="Aptos"/>
              </a:rPr>
              <a:t>MODEL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1801368"/>
            <a:ext cx="-219453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E07432"/>
                </a:solidFill>
                <a:latin typeface="Aptos"/>
              </a:rPr>
              <a:t>0.09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63240"/>
            <a:ext cx="10332720" cy="2194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Selected model: Hist Gradient Boosting.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Seasonal-naive baseline: 52-week lag.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3 rolling-origin folds with an 8-week horizon.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Negative bias means the forecasts under-predicted actual demand on average.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WAPE is primary; bias is secondary. No random split was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What This Means Operationally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Translate signals into review conversations, not automated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37560" cy="4114800"/>
          </a:xfrm>
          <a:prstGeom prst="roundRect">
            <a:avLst/>
          </a:prstGeom>
          <a:solidFill>
            <a:srgbClr val="EF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09928"/>
            <a:ext cx="28803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112336"/>
                </a:solidFill>
                <a:latin typeface="Aptos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2880360" cy="2560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Review REORDER_NOW SKUs first.</a:t>
            </a:r>
          </a:p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Check supplier lead times and on-order quantities.</a:t>
            </a:r>
          </a:p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Use coverage and shortfall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417320"/>
            <a:ext cx="3337560" cy="4114800"/>
          </a:xfrm>
          <a:prstGeom prst="roundRect">
            <a:avLst/>
          </a:prstGeom>
          <a:solidFill>
            <a:srgbClr val="FF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709928"/>
            <a:ext cx="28803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112336"/>
                </a:solidFill>
                <a:latin typeface="Aptos"/>
              </a:rPr>
              <a:t>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331720"/>
            <a:ext cx="2880360" cy="2560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Monitor cost-basis inventory exposure.</a:t>
            </a:r>
          </a:p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Prioritise high-value markdown candidates.</a:t>
            </a:r>
          </a:p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Separate cash tied up from service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417320"/>
            <a:ext cx="3337560" cy="4114800"/>
          </a:xfrm>
          <a:prstGeom prst="roundRect">
            <a:avLst/>
          </a:prstGeom>
          <a:solidFill>
            <a:srgbClr val="EF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709928"/>
            <a:ext cx="28803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112336"/>
                </a:solidFill>
                <a:latin typeface="Aptos"/>
              </a:rPr>
              <a:t>Merchandising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331720"/>
            <a:ext cx="2880360" cy="25603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Review seasonal and top-mover patterns.</a:t>
            </a:r>
          </a:p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Investigate low-movement inventory.</a:t>
            </a:r>
          </a:p>
          <a:p>
            <a:pPr>
              <a:spcAft>
                <a:spcPts val="900"/>
              </a:spcAft>
              <a:defRPr sz="1500">
                <a:solidFill>
                  <a:srgbClr val="1E2C3A"/>
                </a:solidFill>
                <a:latin typeface="Aptos"/>
              </a:defRPr>
            </a:pPr>
            <a:r>
              <a:t>Treat volatility as a reason to review, not a forecast guarantee.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Assumptions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What a decision-maker should know before interpreting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All forecasts and risk scores are computed from the official D1-D4 outputs; nothing is fabricated or sourced from legacy demo files.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D4 thresholds (coverage target, volatility cut-offs, decision matrix) are implementation assumptions and must be reviewed with the mentor/client.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Rupee exposure uses official unit_cost on a cost basis; lost revenue and margin impact are not inferred.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Forecast performance is measured with chronological rolling-origin folds on the official 25,000-transaction history and should be revisited as data grows.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Promotion and seasonal relationships are descriptive, not causal claims.</a:t>
            </a:r>
          </a:p>
          <a:p>
            <a:pPr>
              <a:spcAft>
                <a:spcPts val="900"/>
              </a:spcAft>
              <a:defRPr sz="1800">
                <a:solidFill>
                  <a:srgbClr val="1E2C3A"/>
                </a:solidFill>
                <a:latin typeface="Aptos"/>
              </a:defRPr>
            </a:pPr>
            <a:r>
              <a:t>The system recommends review priorities; it does not place orders or take actions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12336"/>
                </a:solidFill>
                <a:latin typeface="Aptos"/>
              </a:rPr>
              <a:t>Decision 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C77"/>
                </a:solidFill>
                <a:latin typeface="Aptos"/>
              </a:rPr>
              <a:t>Prioritised actions with honest forecast accuracy and clear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1">
                <a:solidFill>
                  <a:srgbClr val="E07432"/>
                </a:solidFill>
                <a:latin typeface="Aptos"/>
              </a:rPr>
              <a:t>FORESIGHT official-data readout (D1-D4) | Decision thresholds are assumptions for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0777C"/>
                </a:solidFill>
                <a:latin typeface="Aptos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754880" cy="20116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Use the prioritised queue to review decisions.</a:t>
            </a:r>
          </a:p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Review the D3 accuracy and D4 valuation assumptions.</a:t>
            </a:r>
          </a:p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Keep observed metrics distinct from recommendations and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114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E07432"/>
                </a:solidFill>
                <a:latin typeface="Aptos"/>
              </a:rPr>
              <a:t>Before relying on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800600" cy="22860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Revisit D3 WAPE/bias and D4 valuation as the official data grows.</a:t>
            </a:r>
          </a:p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Compare updated data sufficiency and risk exposure across refreshes.</a:t>
            </a:r>
          </a:p>
          <a:p>
            <a:pPr>
              <a:spcAft>
                <a:spcPts val="900"/>
              </a:spcAft>
              <a:defRPr sz="1600">
                <a:solidFill>
                  <a:srgbClr val="1E2C3A"/>
                </a:solidFill>
                <a:latin typeface="Aptos"/>
              </a:defRPr>
            </a:pPr>
            <a:r>
              <a:t>Validate recommendations with Operations, Finance, and the mentor before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97680"/>
            <a:ext cx="10469880" cy="914400"/>
          </a:xfrm>
          <a:prstGeom prst="roundRect">
            <a:avLst/>
          </a:prstGeom>
          <a:solidFill>
            <a:srgbClr val="11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99212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The pipeline is complete on the official data and ready for ongoing review and refresh.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