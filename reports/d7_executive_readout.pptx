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Executive Summary | FORESIGHT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Inventory decisions from demand, forecast, and risk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6675120" cy="6400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400" b="1">
                <a:solidFill>
                  <a:srgbClr val="112336"/>
                </a:solidFill>
                <a:latin typeface="Aptos"/>
              </a:rPr>
              <a:t>A practical view of where inventory capital is exposed and what to review next.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298448"/>
            <a:ext cx="3611880" cy="2057400"/>
          </a:xfrm>
          <a:prstGeom prst="roundRect">
            <a:avLst/>
          </a:prstGeom>
          <a:solidFill>
            <a:srgbClr val="11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65008" y="1572768"/>
            <a:ext cx="3108960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100" b="1">
                <a:solidFill>
                  <a:srgbClr val="B2DCDA"/>
                </a:solidFill>
                <a:latin typeface="Aptos"/>
              </a:rPr>
              <a:t>VALUE AT STAKE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8431" y="1874519"/>
            <a:ext cx="320040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₹116,126.42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697480"/>
            <a:ext cx="301752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DCE7EB"/>
                </a:solidFill>
                <a:latin typeface="Aptos"/>
              </a:rPr>
              <a:t>Cost-basis exposure from D4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743200"/>
            <a:ext cx="2" cy="1097280"/>
          </a:xfrm>
          <a:prstGeom prst="roundRect">
            <a:avLst/>
          </a:prstGeom>
          <a:solidFill>
            <a:srgbClr val="FF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5292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REORDER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E07432"/>
                </a:solidFill>
                <a:latin typeface="Aptos"/>
              </a:rPr>
              <a:t>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743200"/>
            <a:ext cx="2" cy="1097280"/>
          </a:xfrm>
          <a:prstGeom prst="roundRect">
            <a:avLst/>
          </a:prstGeom>
          <a:solidFill>
            <a:srgbClr val="FFF6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85292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MARKDOWN / CLEAR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12724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E07432"/>
                </a:solidFill>
                <a:latin typeface="Aptos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743200"/>
            <a:ext cx="2" cy="109728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85292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HEALTHY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12724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0777C"/>
                </a:solidFill>
                <a:latin typeface="Apto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10789920" cy="132588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Protect availability for the 17 highest stockout-pressure SKUs.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Review markdown or clearance for 7 excess-cover SKUs.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Treat every figure as synthetic development evidence, not a company result.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What Is At Risk?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D4 separates availability pressure from excess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" cy="1097280"/>
          </a:xfrm>
          <a:prstGeom prst="roundRect">
            <a:avLst/>
          </a:prstGeom>
          <a:solidFill>
            <a:srgbClr val="FF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3560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TOTAL EXPOSURE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0992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E07432"/>
                </a:solidFill>
                <a:latin typeface="Aptos"/>
              </a:rPr>
              <a:t>₹116,126.42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325880"/>
            <a:ext cx="3" cy="109728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43560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INVENTORY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170992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12336"/>
                </a:solidFill>
                <a:latin typeface="Aptos"/>
              </a:rPr>
              <a:t>₹44,721.43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325880"/>
            <a:ext cx="3" cy="109728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43560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STOCKOUT SHORTFALL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70992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12336"/>
                </a:solidFill>
                <a:latin typeface="Aptos"/>
              </a:rPr>
              <a:t>₹71,404.99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88920"/>
            <a:ext cx="27432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12336"/>
                </a:solidFill>
                <a:latin typeface="Aptos"/>
              </a:rPr>
              <a:t>Decision mix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246120"/>
            <a:ext cx="146304" cy="310896"/>
          </a:xfrm>
          <a:prstGeom prst="rect">
            <a:avLst/>
          </a:prstGeom>
          <a:solidFill>
            <a:srgbClr val="E0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27832"/>
            <a:ext cx="265176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E2C3A"/>
                </a:solidFill>
                <a:latin typeface="Aptos"/>
              </a:rPr>
              <a:t>Reorder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227832"/>
            <a:ext cx="73152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600" b="1">
                <a:solidFill>
                  <a:srgbClr val="112336"/>
                </a:solidFill>
                <a:latin typeface="Aptos"/>
              </a:rPr>
              <a:t>17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40480"/>
            <a:ext cx="146304" cy="310896"/>
          </a:xfrm>
          <a:prstGeom prst="rect">
            <a:avLst/>
          </a:prstGeom>
          <a:solidFill>
            <a:srgbClr val="D59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265176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E2C3A"/>
                </a:solidFill>
                <a:latin typeface="Aptos"/>
              </a:rPr>
              <a:t>Markdown Clear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822192"/>
            <a:ext cx="73152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600" b="1">
                <a:solidFill>
                  <a:srgbClr val="112336"/>
                </a:solidFill>
                <a:latin typeface="Aptos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434840"/>
            <a:ext cx="146304" cy="310896"/>
          </a:xfrm>
          <a:prstGeom prst="rect">
            <a:avLst/>
          </a:prstGeom>
          <a:solidFill>
            <a:srgbClr val="B49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16552"/>
            <a:ext cx="265176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E2C3A"/>
                </a:solidFill>
                <a:latin typeface="Aptos"/>
              </a:rPr>
              <a:t>Watch Volatile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416552"/>
            <a:ext cx="73152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600" b="1">
                <a:solidFill>
                  <a:srgbClr val="112336"/>
                </a:solidFill>
                <a:latin typeface="Apto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029200"/>
            <a:ext cx="146304" cy="310896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10912"/>
            <a:ext cx="265176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E2C3A"/>
                </a:solidFill>
                <a:latin typeface="Aptos"/>
              </a:rPr>
              <a:t>Healthy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5010912"/>
            <a:ext cx="731520" cy="34747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600" b="1">
                <a:solidFill>
                  <a:srgbClr val="112336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063240"/>
            <a:ext cx="6583680" cy="219456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E2C3A"/>
                </a:solidFill>
                <a:latin typeface="Aptos"/>
              </a:defRPr>
            </a:pPr>
            <a:r>
              <a:t>19 SKUs show a computed lead-time shortfall.</a:t>
            </a:r>
          </a:p>
          <a:p>
            <a:pPr>
              <a:spcAft>
                <a:spcPts val="900"/>
              </a:spcAft>
              <a:defRPr sz="1700">
                <a:solidFill>
                  <a:srgbClr val="1E2C3A"/>
                </a:solidFill>
                <a:latin typeface="Aptos"/>
              </a:defRPr>
            </a:pPr>
            <a:r>
              <a:t>9 SKUs exceed the healthy-cover inventory target.</a:t>
            </a:r>
          </a:p>
          <a:p>
            <a:pPr>
              <a:spcAft>
                <a:spcPts val="900"/>
              </a:spcAft>
              <a:defRPr sz="1700">
                <a:solidFill>
                  <a:srgbClr val="1E2C3A"/>
                </a:solidFill>
                <a:latin typeface="Aptos"/>
              </a:defRPr>
            </a:pPr>
            <a:r>
              <a:t>Rupee values use official unit_cost on a cost basis; lost revenue is not estimated.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Prioritised directly from D4 output, highest value at stake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61872"/>
            <a:ext cx="3657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12336"/>
                </a:solidFill>
                <a:latin typeface="Aptos"/>
              </a:rPr>
              <a:t>Immediate review queue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8910"/>
                <a:gridCol w="2708910"/>
                <a:gridCol w="2708910"/>
                <a:gridCol w="2708910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SKU</a:t>
                      </a:r>
                    </a:p>
                  </a:txBody>
                  <a:tcPr>
                    <a:solidFill>
                      <a:srgbClr val="1123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123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VALUE AT STAKE</a:t>
                      </a:r>
                    </a:p>
                  </a:txBody>
                  <a:tcPr>
                    <a:solidFill>
                      <a:srgbClr val="1123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12336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SKU-025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Markdown Clear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₹13,874.24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12.3 weeks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₹12,682.92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10.4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SKU-026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₹11,660.16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11.3 weeks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Reorder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₹7,079.90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0.3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SKU-010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Reorder Now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₹6,660.85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0.5 weeks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Reorder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₹6,291.80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0.3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SKU-005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Reorder Now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₹5,430.98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0.1 weeks</a:t>
                      </a:r>
                    </a:p>
                  </a:txBody>
                  <a:tcPr>
                    <a:solidFill>
                      <a:srgbClr val="EFF6F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SKU-015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Reorder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₹5,309.93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C3A"/>
                          </a:solidFill>
                        </a:defRPr>
                      </a:pPr>
                      <a:r>
                        <a:t>0.1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Demand &amp; Inventory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D2 observations connect demand concentration and seasonality to inventory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03520" cy="452628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38912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12336"/>
                </a:solidFill>
                <a:latin typeface="Aptos"/>
              </a:rPr>
              <a:t>Computed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663440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300" b="1">
                <a:solidFill>
                  <a:srgbClr val="1E2C3A"/>
                </a:solidFill>
                <a:latin typeface="Aptos"/>
              </a:rPr>
              <a:t>1. SKU-001 is the highest-volume SKU.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4526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5C6C77"/>
                </a:solidFill>
                <a:latin typeface="Aptos"/>
              </a:rPr>
              <a:t>It represents 6.5% of 325,812 total units sold.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16352"/>
            <a:ext cx="4663440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300" b="1">
                <a:solidFill>
                  <a:srgbClr val="1E2C3A"/>
                </a:solidFill>
                <a:latin typeface="Aptos"/>
              </a:rPr>
              <a:t>2. Spring has the highest observed seasonal demand.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108960"/>
            <a:ext cx="4526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5C6C77"/>
                </a:solidFill>
                <a:latin typeface="Aptos"/>
              </a:rPr>
              <a:t>The period total is 119,803 units in the computed season aggregation.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21024"/>
            <a:ext cx="4663440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300" b="1">
                <a:solidFill>
                  <a:srgbClr val="1E2C3A"/>
                </a:solidFill>
                <a:latin typeface="Aptos"/>
              </a:rPr>
              <a:t>3. 5 SKU(s) meet the computed dead/slow-stock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913632"/>
            <a:ext cx="4526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5C6C77"/>
                </a:solidFill>
                <a:latin typeface="Aptos"/>
              </a:rPr>
              <a:t>The rule flags zero sales or bottom-quartile movement with no observed stock depletion.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25696"/>
            <a:ext cx="4663440" cy="29260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300" b="1">
                <a:solidFill>
                  <a:srgbClr val="1E2C3A"/>
                </a:solidFill>
                <a:latin typeface="Aptos"/>
              </a:rPr>
              <a:t>4. Aggregate daily demand is increasing over the observed window.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718304"/>
            <a:ext cx="4526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5C6C77"/>
                </a:solidFill>
                <a:latin typeface="Aptos"/>
              </a:rPr>
              <a:t>The fitted daily slope is 0.013 units per day.</a:t>
            </a:r>
          </a:p>
        </p:txBody>
      </p:sp>
      <p:pic>
        <p:nvPicPr>
          <p:cNvPr id="16" name="Picture 15" descr="weekly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08760"/>
            <a:ext cx="2468880" cy="1965960"/>
          </a:xfrm>
          <a:prstGeom prst="rect">
            <a:avLst/>
          </a:prstGeom>
        </p:spPr>
      </p:pic>
      <p:pic>
        <p:nvPicPr>
          <p:cNvPr id="17" name="Picture 16" descr="top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508760"/>
            <a:ext cx="2468880" cy="1965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5532120"/>
            <a:ext cx="4846320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000" b="0">
                <a:solidFill>
                  <a:srgbClr val="5C6C77"/>
                </a:solidFill>
                <a:latin typeface="Aptos"/>
              </a:rPr>
              <a:t>Charts are descriptive summaries of synthetic development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Forecast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D3 uses chronological rolling-origin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2" cy="109728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52704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MODEL WAPE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0136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0777C"/>
                </a:solidFill>
                <a:latin typeface="Aptos"/>
              </a:rPr>
              <a:t>19.34%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417320"/>
            <a:ext cx="2" cy="1097280"/>
          </a:xfrm>
          <a:prstGeom prst="roundRect">
            <a:avLst/>
          </a:prstGeom>
          <a:solidFill>
            <a:srgbClr val="F1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2704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BASELINE WAPE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0136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12336"/>
                </a:solidFill>
                <a:latin typeface="Aptos"/>
              </a:rPr>
              <a:t>24.24%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417320"/>
            <a:ext cx="2" cy="1097280"/>
          </a:xfrm>
          <a:prstGeom prst="roundRect">
            <a:avLst/>
          </a:prstGeom>
          <a:solidFill>
            <a:srgbClr val="E8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WAPE IMPROVEMENT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80136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10777C"/>
                </a:solidFill>
                <a:latin typeface="Aptos"/>
              </a:rPr>
              <a:t>20.20%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417320"/>
            <a:ext cx="2" cy="1097280"/>
          </a:xfrm>
          <a:prstGeom prst="roundRect">
            <a:avLst/>
          </a:prstGeom>
          <a:solidFill>
            <a:srgbClr val="FFF6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1527048"/>
            <a:ext cx="-219453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C6C77"/>
                </a:solidFill>
                <a:latin typeface="Aptos"/>
              </a:rPr>
              <a:t>MODEL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1801368"/>
            <a:ext cx="-219453" cy="530352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200" b="1">
                <a:solidFill>
                  <a:srgbClr val="E07432"/>
                </a:solidFill>
                <a:latin typeface="Aptos"/>
              </a:rPr>
              <a:t>-1.16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063240"/>
            <a:ext cx="10332720" cy="219456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Selected model: Hist Gradient Boosting.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Seasonal-naive baseline: 52-week lag.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3 rolling-origin folds with an 8-week horizon.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Negative bias means the forecasts under-predicted actual demand on average.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WAPE is primary; bias is secondary. No random split was 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What This Means Operationally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Translate signals into review conversations, not automated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3337560" cy="411480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709928"/>
            <a:ext cx="288036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100" b="1">
                <a:solidFill>
                  <a:srgbClr val="112336"/>
                </a:solidFill>
                <a:latin typeface="Aptos"/>
              </a:rPr>
              <a:t>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2880360" cy="256032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Review REORDER_NOW SKUs first.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Check supplier lead times and on-order quantities.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Use coverage and shortfall together.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417320"/>
            <a:ext cx="3337560" cy="4114800"/>
          </a:xfrm>
          <a:prstGeom prst="roundRect">
            <a:avLst/>
          </a:prstGeom>
          <a:solidFill>
            <a:srgbClr val="FFF6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4296" y="1709928"/>
            <a:ext cx="288036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100" b="1">
                <a:solidFill>
                  <a:srgbClr val="112336"/>
                </a:solidFill>
                <a:latin typeface="Aptos"/>
              </a:rPr>
              <a:t>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331720"/>
            <a:ext cx="2880360" cy="256032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Monitor cost-basis inventory exposure.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Prioritise high-value markdown candidates.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Separate cash tied up from service risk.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1417320"/>
            <a:ext cx="3337560" cy="4114800"/>
          </a:xfrm>
          <a:prstGeom prst="roundRect">
            <a:avLst/>
          </a:prstGeom>
          <a:solidFill>
            <a:srgbClr val="EF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9056" y="1709928"/>
            <a:ext cx="288036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100" b="1">
                <a:solidFill>
                  <a:srgbClr val="112336"/>
                </a:solidFill>
                <a:latin typeface="Aptos"/>
              </a:rPr>
              <a:t>Merchandising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2331720"/>
            <a:ext cx="2880360" cy="256032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Review seasonal and top-mover patterns.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Investigate low-movement inventory.</a:t>
            </a:r>
          </a:p>
          <a:p>
            <a:pPr>
              <a:spcAft>
                <a:spcPts val="900"/>
              </a:spcAft>
              <a:defRPr sz="1500">
                <a:solidFill>
                  <a:srgbClr val="1E2C3A"/>
                </a:solidFill>
                <a:latin typeface="Aptos"/>
              </a:defRPr>
            </a:pPr>
            <a:r>
              <a:t>Treat volatility as a reason to review, not a forecast guarantee.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Assumptions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What a decision-maker should know before interpreting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10332720" cy="429768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All inputs are synthetic development data generated for testing; none are official internship or NorthBay Living extracts.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D4 thresholds are implementation assumptions and must be reviewed with the mentor/client.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Rupee exposure uses official unit_cost on a cost basis; lost revenue and margin impact are not inferred.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Forecast performance is measured on this synthetic history and should be recomputed on official data.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Promotion and seasonal relationships are descriptive, not causal claims.</a:t>
            </a:r>
          </a:p>
          <a:p>
            <a:pPr>
              <a:spcAft>
                <a:spcPts val="900"/>
              </a:spcAft>
              <a:defRPr sz="1800">
                <a:solidFill>
                  <a:srgbClr val="1E2C3A"/>
                </a:solidFill>
                <a:latin typeface="Aptos"/>
              </a:defRPr>
            </a:pPr>
            <a:r>
              <a:t>The system recommends review priorities; it does not place orders or take actions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7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112336"/>
                </a:solidFill>
                <a:latin typeface="Aptos"/>
              </a:rPr>
              <a:t>Decision 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5C6C77"/>
                </a:solidFill>
                <a:latin typeface="Aptos"/>
              </a:rPr>
              <a:t>A clean handoff from development evidence to official-data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0528"/>
            <a:ext cx="1106424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800" b="1">
                <a:solidFill>
                  <a:srgbClr val="E07432"/>
                </a:solidFill>
                <a:latin typeface="Aptos"/>
              </a:rPr>
              <a:t>SYNTHETIC DEVELOPMENT DATA | Not official Zidio or NorthBay Living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828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0777C"/>
                </a:solidFill>
                <a:latin typeface="Aptos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754880" cy="201168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Use the prioritised queue to demonstrate the workflow.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Review the D3 accuracy and D4 valuation assumptions.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Keep synthetic findings clearly separated from company conclusions.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114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E07432"/>
                </a:solidFill>
                <a:latin typeface="Aptos"/>
              </a:rPr>
              <a:t>When official extracts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800600" cy="2286000"/>
          </a:xfrm>
          <a:prstGeom prst="rect">
            <a:avLst/>
          </a:prstGeom>
          <a:noFill/>
        </p:spPr>
        <p:txBody>
          <a:bodyPr wrap="square" lIns="109728" rIns="7315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Replace the four raw CSVs without changing the contract.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Rerun D1 through D4 and compare data sufficiency, WAPE, bias, and risk exposure.</a:t>
            </a:r>
          </a:p>
          <a:p>
            <a:pPr>
              <a:spcAft>
                <a:spcPts val="900"/>
              </a:spcAft>
              <a:defRPr sz="1600">
                <a:solidFill>
                  <a:srgbClr val="1E2C3A"/>
                </a:solidFill>
                <a:latin typeface="Aptos"/>
              </a:defRPr>
            </a:pPr>
            <a:r>
              <a:t>Validate recommendations with Operations, Finance, and the mentor before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97680"/>
            <a:ext cx="10469880" cy="914400"/>
          </a:xfrm>
          <a:prstGeom prst="roundRect">
            <a:avLst/>
          </a:prstGeom>
          <a:solidFill>
            <a:srgbClr val="112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26280"/>
            <a:ext cx="9921240" cy="4572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The development pipeline is ready for an honest, reproducible replacement with official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2020-01-01T00:00:00Z</dcterms:created>
  <dcterms:modified xsi:type="dcterms:W3CDTF">2020-01-01T00:00:00Z</dcterms:modified>
  <cp:category/>
</cp:coreProperties>
</file>